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80960" y="1371600"/>
            <a:ext cx="932688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13648" y="1371600"/>
            <a:ext cx="932688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46336" y="1371600"/>
            <a:ext cx="932688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79024" y="1371600"/>
            <a:ext cx="932688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11712" y="1371600"/>
            <a:ext cx="932688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14616" y="1938528"/>
            <a:ext cx="466344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47304" y="1938528"/>
            <a:ext cx="932688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79992" y="1938528"/>
            <a:ext cx="932688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12680" y="1938528"/>
            <a:ext cx="932688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45368" y="1938528"/>
            <a:ext cx="932688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80960" y="2505456"/>
            <a:ext cx="932688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13648" y="2505456"/>
            <a:ext cx="932688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546336" y="2505456"/>
            <a:ext cx="932688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479024" y="2505456"/>
            <a:ext cx="932688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411712" y="2505456"/>
            <a:ext cx="932688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14616" y="3072384"/>
            <a:ext cx="466344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47304" y="3072384"/>
            <a:ext cx="932688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79992" y="3072384"/>
            <a:ext cx="932688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012680" y="3072384"/>
            <a:ext cx="932688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945368" y="3072384"/>
            <a:ext cx="932688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680960" y="3639312"/>
            <a:ext cx="932688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613648" y="3639312"/>
            <a:ext cx="932688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546336" y="3639312"/>
            <a:ext cx="932688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479024" y="3639312"/>
            <a:ext cx="932688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411712" y="3639312"/>
            <a:ext cx="932688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14616" y="4206240"/>
            <a:ext cx="466344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147304" y="4206240"/>
            <a:ext cx="932688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079992" y="4206240"/>
            <a:ext cx="932688" cy="538988"/>
          </a:xfrm>
          <a:prstGeom prst="rect">
            <a:avLst/>
          </a:prstGeom>
          <a:solidFill>
            <a:srgbClr val="11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012680" y="4206240"/>
            <a:ext cx="932688" cy="538988"/>
          </a:xfrm>
          <a:prstGeom prst="rect">
            <a:avLst/>
          </a:prstGeom>
          <a:solidFill>
            <a:srgbClr val="154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945368" y="4206240"/>
            <a:ext cx="932688" cy="538988"/>
          </a:xfrm>
          <a:prstGeom prst="rect">
            <a:avLst/>
          </a:prstGeom>
          <a:solidFill>
            <a:srgbClr val="0E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546336" y="1938528"/>
            <a:ext cx="932688" cy="53898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47304" y="3072384"/>
            <a:ext cx="932688" cy="538988"/>
          </a:xfrm>
          <a:prstGeom prst="rect">
            <a:avLst/>
          </a:prstGeom>
          <a:solidFill>
            <a:srgbClr val="256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479024" y="3639312"/>
            <a:ext cx="466344" cy="5389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2960" y="1417320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</a:t>
            </a:r>
            <a:r>
              <a:rPr sz="1300" b="1" dirty="0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300" b="1" dirty="0" err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완료</a:t>
            </a:r>
            <a:r>
              <a:rPr sz="1300" b="1" dirty="0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300" b="1" dirty="0" err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보고</a:t>
            </a:r>
            <a:r>
              <a:rPr sz="1300" b="1" dirty="0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 ·  DEVELOPMENT COMPLETION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2140458"/>
            <a:ext cx="694944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</a:t>
            </a:r>
            <a:r>
              <a:rPr sz="4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40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단열재</a:t>
            </a:r>
            <a:endParaRPr sz="40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l">
              <a:lnSpc>
                <a:spcPct val="105000"/>
              </a:lnSpc>
            </a:pPr>
            <a:r>
              <a:rPr sz="40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나누기도</a:t>
            </a:r>
            <a:r>
              <a:rPr sz="4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40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개발완료보고</a:t>
            </a:r>
            <a:endParaRPr sz="40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68680" y="3611880"/>
            <a:ext cx="1005840" cy="444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2960" y="3886200"/>
            <a:ext cx="6583680" cy="55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업로드부터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입면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전개·단열재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나누기·물량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산출서까지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CAD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수작업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없이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웹에서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한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번에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450" b="0" dirty="0" err="1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끝냅니다</a:t>
            </a:r>
            <a:r>
              <a:rPr sz="1450" b="0" dirty="0">
                <a:solidFill>
                  <a:schemeClr val="bg1">
                    <a:lumMod val="5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06440"/>
            <a:ext cx="8229600" cy="467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스마트기술팀</a:t>
            </a:r>
            <a:r>
              <a:rPr sz="13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 |  2026. 07</a:t>
            </a:r>
          </a:p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insulation-partition-</a:t>
            </a:r>
            <a:r>
              <a:rPr sz="1100" b="0" dirty="0" err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generator.jogh.workers.dev</a:t>
            </a:r>
            <a:endParaRPr sz="1100" b="0" dirty="0">
              <a:solidFill>
                <a:srgbClr val="0EA5E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455C96EF-17D7-7253-13CB-35DAFF5EB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00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보고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084832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48256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 배경 및 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50592"/>
            <a:ext cx="4160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수작업 나누기도 작성의 한계와 자동화 필요성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084832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48256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시스템 개요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450592"/>
            <a:ext cx="4160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업무 흐름 한눈에 — 도면에서 산출물까지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547872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511296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기술 아키텍처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913632"/>
            <a:ext cx="4160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웹 · 서버 · 데이터 구성과 통합 로그인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918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3547872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511296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핵심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913632"/>
            <a:ext cx="4160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트레이싱 → 입면 전개 → 자동 나누기 → 물량 산출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5488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5010912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974336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산출물 및 버전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376672"/>
            <a:ext cx="4160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DXF/SVG/XLSX/ZIP · 프로젝트/REV 저장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75488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5010912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974336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기대 효과 및 향후 계획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376672"/>
            <a:ext cx="4160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업무 개선 효과와 다음 단계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7BF7CC58-4B9E-81D6-E190-94DC5959A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01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 배경 및 목적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나누기도는 매 현장·매 타입마다 반복되는 대표적인 수작업 도면 업무입니다.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256032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21488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CAD 수작업 반복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194560" cy="584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타입·입면마다 보드 분할을 일일이 작도,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설계 변경 시 처음부터 재작업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96596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37560" y="1965960"/>
            <a:ext cx="2560320" cy="12801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2286000"/>
            <a:ext cx="21488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물량 산출 이원화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88920"/>
            <a:ext cx="2194560" cy="389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 따로, 물량 집계(엑셀) 따로 —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전기(轉記) 과정에서 누락·오산 위험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965960"/>
            <a:ext cx="2560320" cy="1920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80760" y="1965960"/>
            <a:ext cx="2560320" cy="128016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0" y="2286000"/>
            <a:ext cx="214884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기준 적용 편차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2194560" cy="389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조인트 엇갈림·결로위험 간격 등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작성자별로 품질 기준 적용이 상이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78240" y="2514600"/>
            <a:ext cx="731520" cy="777240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46920" y="1965960"/>
            <a:ext cx="1965960" cy="1920240"/>
          </a:xfrm>
          <a:prstGeom prst="roundRect">
            <a:avLst>
              <a:gd name="adj" fmla="val 6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29800" y="2212848"/>
            <a:ext cx="1645920" cy="1168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웹 기반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완전 자동화</a:t>
            </a:r>
          </a:p>
          <a:p>
            <a:pPr algn="l">
              <a:lnSpc>
                <a:spcPct val="115000"/>
              </a:lnSpc>
            </a:pPr>
            <a:endParaRPr sz="1500" b="1">
              <a:solidFill>
                <a:srgbClr val="FFFF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BFD3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도면·물량·기준을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BFD3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하나의 도구로 통합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343400"/>
            <a:ext cx="1101852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457200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6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 목표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937760"/>
            <a:ext cx="262432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95528" y="5138928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9556" y="5125099"/>
            <a:ext cx="21031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</a:t>
            </a:r>
            <a:r>
              <a:rPr sz="1300" b="1" dirty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</a:t>
            </a:r>
            <a:r>
              <a:rPr sz="1300" b="1" dirty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생성</a:t>
            </a:r>
            <a:endParaRPr sz="1300" b="1" dirty="0">
              <a:solidFill>
                <a:srgbClr val="1E293B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3816" y="5440680"/>
            <a:ext cx="2286000" cy="3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외벽 트레이싱만 하면 입면 전개와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보드 나누기도를 자동 작도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4937760"/>
            <a:ext cx="262432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3602736" y="5138928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36289" y="5102908"/>
            <a:ext cx="21031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물량</a:t>
            </a:r>
            <a:r>
              <a:rPr sz="1300" b="1" dirty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동시</a:t>
            </a:r>
            <a:r>
              <a:rPr sz="1300" b="1" dirty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산출</a:t>
            </a:r>
            <a:endParaRPr sz="1300" b="1" dirty="0">
              <a:solidFill>
                <a:srgbClr val="1E293B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621024" y="5440680"/>
            <a:ext cx="2286000" cy="3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도면과 같은 데이터에서 정척/절단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물량·산출서를 즉시 집계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4937760"/>
            <a:ext cx="262432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09944" y="5138928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20256" y="5117006"/>
            <a:ext cx="21031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품질</a:t>
            </a:r>
            <a:r>
              <a:rPr sz="1300" b="1" dirty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기준</a:t>
            </a:r>
            <a:r>
              <a:rPr sz="1300" b="1" dirty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내장</a:t>
            </a:r>
            <a:endParaRPr sz="1300" b="1" dirty="0">
              <a:solidFill>
                <a:srgbClr val="1E293B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28232" y="5440680"/>
            <a:ext cx="2286000" cy="3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조인트 엇갈림, 결로위험 간격 검출을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프로그램 규칙으로 표준화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15984" y="4937760"/>
            <a:ext cx="262432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217152" y="5138928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427464" y="5117005"/>
            <a:ext cx="21031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협업·이력</a:t>
            </a:r>
            <a:r>
              <a:rPr sz="1300" b="1" dirty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sz="1300" b="1" dirty="0" err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관리</a:t>
            </a:r>
            <a:endParaRPr sz="1300" b="1" dirty="0">
              <a:solidFill>
                <a:srgbClr val="1E293B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235440" y="5440680"/>
            <a:ext cx="2286000" cy="3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프로젝트/REV 저장으로 누구나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동일 데이터로 이어서 작업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AA3160D9-4D2B-8989-DF37-4BE787C21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02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시스템 개요 — 도면에서 산출물까지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6단계 흐름이 한 화면에서 끝납니다. 각 단계의 데이터는 실시간으로 연동됩니다.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</a:t>
            </a:r>
          </a:p>
        </p:txBody>
      </p:sp>
      <p:sp>
        <p:nvSpPr>
          <p:cNvPr id="10" name="Chevron 9"/>
          <p:cNvSpPr/>
          <p:nvPr/>
        </p:nvSpPr>
        <p:spPr>
          <a:xfrm>
            <a:off x="502920" y="2103120"/>
            <a:ext cx="2048256" cy="960120"/>
          </a:xfrm>
          <a:prstGeom prst="chevron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00400"/>
            <a:ext cx="1499616" cy="321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평면 도면 파싱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레이어 인식</a:t>
            </a:r>
          </a:p>
        </p:txBody>
      </p:sp>
      <p:sp>
        <p:nvSpPr>
          <p:cNvPr id="12" name="Chevron 11"/>
          <p:cNvSpPr/>
          <p:nvPr/>
        </p:nvSpPr>
        <p:spPr>
          <a:xfrm>
            <a:off x="2350008" y="2103120"/>
            <a:ext cx="2048256" cy="960120"/>
          </a:xfrm>
          <a:prstGeom prst="chevron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외벽 트레이싱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3200400"/>
            <a:ext cx="1499616" cy="321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다중 체인 지정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측정·원본 편집</a:t>
            </a:r>
          </a:p>
        </p:txBody>
      </p:sp>
      <p:sp>
        <p:nvSpPr>
          <p:cNvPr id="14" name="Chevron 13"/>
          <p:cNvSpPr/>
          <p:nvPr/>
        </p:nvSpPr>
        <p:spPr>
          <a:xfrm>
            <a:off x="4197096" y="2103120"/>
            <a:ext cx="2048256" cy="960120"/>
          </a:xfrm>
          <a:prstGeom prst="chevron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입면 자동 전개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200400"/>
            <a:ext cx="1499616" cy="321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체인별 입면 생성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1P/2P 자동 분리</a:t>
            </a:r>
          </a:p>
        </p:txBody>
      </p:sp>
      <p:sp>
        <p:nvSpPr>
          <p:cNvPr id="16" name="Chevron 15"/>
          <p:cNvSpPr/>
          <p:nvPr/>
        </p:nvSpPr>
        <p:spPr>
          <a:xfrm>
            <a:off x="6044184" y="2103120"/>
            <a:ext cx="2048256" cy="960120"/>
          </a:xfrm>
          <a:prstGeom prst="chevron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오프닝 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200400"/>
            <a:ext cx="1499616" cy="321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창호 프리셋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TEXT 자동 인식</a:t>
            </a:r>
          </a:p>
        </p:txBody>
      </p:sp>
      <p:sp>
        <p:nvSpPr>
          <p:cNvPr id="18" name="Chevron 17"/>
          <p:cNvSpPr/>
          <p:nvPr/>
        </p:nvSpPr>
        <p:spPr>
          <a:xfrm>
            <a:off x="7891272" y="2103120"/>
            <a:ext cx="2048256" cy="960120"/>
          </a:xfrm>
          <a:prstGeom prst="chevron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단열재 나누기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200400"/>
            <a:ext cx="1499616" cy="321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보드 분할·번호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결로위험 검출</a:t>
            </a:r>
          </a:p>
        </p:txBody>
      </p:sp>
      <p:sp>
        <p:nvSpPr>
          <p:cNvPr id="20" name="Chevron 19"/>
          <p:cNvSpPr/>
          <p:nvPr/>
        </p:nvSpPr>
        <p:spPr>
          <a:xfrm>
            <a:off x="9738360" y="2103120"/>
            <a:ext cx="2048256" cy="960120"/>
          </a:xfrm>
          <a:prstGeom prst="chevr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물량·산출물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22408" y="3200400"/>
            <a:ext cx="1499616" cy="321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동·타입 매트릭스</a:t>
            </a:r>
          </a:p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DXF/XLSX/ZIP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160520"/>
            <a:ext cx="1101852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4360" y="44348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" y="4434840"/>
            <a:ext cx="43180" cy="1600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2" y="4645152"/>
            <a:ext cx="3108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웹 접속만으로 사용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5074920"/>
            <a:ext cx="3200400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설치 없음 — 사내 어디서나 브라우저로 접속해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바로 작업 (Smart Works 계정과 동일 로그인)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399" y="44348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343399" y="4434840"/>
            <a:ext cx="43180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99431" y="4645152"/>
            <a:ext cx="3108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모든 작업 자동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5074920"/>
            <a:ext cx="3200400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트레이싱을 수정하면 입면·나누기도·물량이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즉시 재계산 — 설계 변경 대응이 수 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38" y="44348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92438" y="4434840"/>
            <a:ext cx="43180" cy="1600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48470" y="4645152"/>
            <a:ext cx="3108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결과는 표준 포맷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0" y="5074920"/>
            <a:ext cx="3200400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DXF(통합/분할)·SVG·CSV/XLSX·ZIP —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기존 CAD·정산 업무에 그대로 투입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B6DB652-E843-CFB6-CEE6-517997848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기술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서버리스 구성으로 별도 서버 운영 부담 없이 사내 서비스로 즉시 운영합니다.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1920240"/>
            <a:ext cx="3566160" cy="566928"/>
          </a:xfrm>
          <a:prstGeom prst="roundRect">
            <a:avLst>
              <a:gd name="adj" fmla="val 2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화면 (Web)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97480"/>
            <a:ext cx="3108960" cy="1066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React 19 + Vite + TypeScript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Tailwind v4 + shadcn/ui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캔버스 기반 도면 렌더링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 파싱·기하 연산 엔진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78808" y="3127248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43399" y="19202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399" y="1920240"/>
            <a:ext cx="3566160" cy="566928"/>
          </a:xfrm>
          <a:prstGeom prst="roundRect">
            <a:avLst>
              <a:gd name="adj" fmla="val 24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API · 서빙 (Edge)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697480"/>
            <a:ext cx="3108960" cy="1066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0036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Cloudflare Worker + Hono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0036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SPA + API 단일 Worker 서빙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0036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GitHub 연동 자동 배포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0036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DCR 통합 로그인(사내 계정)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27847" y="3127248"/>
            <a:ext cx="146304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38" y="19202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92438" y="1920240"/>
            <a:ext cx="3566160" cy="566928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(Cloud)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6" y="2697480"/>
            <a:ext cx="3108960" cy="1066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Supabase PostgreSQL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프로젝트/REV 테이블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원본 DXF Storage 보관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전용 프로젝트로 SSX와 분리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983480"/>
            <a:ext cx="1101852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680" y="5285405"/>
            <a:ext cx="10515600" cy="5025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0036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보안·운영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 화면 로그인 필수(Smart Works와 동일한 사내 계정) · 원본 도면은 비공개 Storage에 보관 · 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0036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        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main 머지 시 자동 배포(수동 배포 차단) · SSX와 데이터 완전 분리로 상호 영향 없음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AB97E8A-C071-EE5F-86E3-5E2965519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핵심 기능 ①  도면 업로드 · 외벽 트레이싱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CAD를 열지 않고, 브라우저에서 평면 DXF를 직접 다루는 것부터 시작합니다.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53212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9552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093975"/>
            <a:ext cx="4617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 업로드 · 도면 뷰어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587751"/>
            <a:ext cx="507492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평면 DXF 파싱 후 브라우저 캔버스에 즉시 표시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마우스 포인터 기준 정밀 휠 줌 · 휠 드래그 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레이어 구조·치수 그대로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0196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093975"/>
            <a:ext cx="4297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다중 체인 외벽 트레이싱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587751"/>
            <a:ext cx="475488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외벽선을 따라 클릭 → Enter로 체인 확정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체인 여러 개 = 입면 여러 장 (측벽·주벽·전면 등)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체인마다 층고 개별 설정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69080"/>
            <a:ext cx="553212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4360" y="4069080"/>
            <a:ext cx="43180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95528" y="42519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288536"/>
            <a:ext cx="4617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치수 측정 도구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782312"/>
            <a:ext cx="5074920" cy="4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거리 · 연속 거리 · 면적 측정을 도면 위에서 바로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트레이싱 전 검증, 물량 근거 확인에 활용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069080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4069080"/>
            <a:ext cx="43180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601968" y="42519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288536"/>
            <a:ext cx="4297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 원본 편집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782312"/>
            <a:ext cx="4754880" cy="4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불필요 객체 이동·삭제를 웹에서 직접 처리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Undo 지원 — CAD 왕복 없이 도면 정리 완결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6A8FCC6E-F1AA-9E77-23C9-ADA3B15C2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핵심 기능 ②  입면 자동 전개 · 창호(오프닝) 배치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트레이싱한 외벽이 그대로 전개 입면이 되고, 창호는 도면 글자를 읽어 자동으로 올라갑니다.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53212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9552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093975"/>
            <a:ext cx="4617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체인별 입면 자동 전개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587751"/>
            <a:ext cx="507492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체인 1개 → 전개 입면 1장, 위아래로 자동 배치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1P(내측) · 2P(외측) 겹(Ply) 입면 자동 분리 생성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층고·전개 길이·보드 규격 실시간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0196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093975"/>
            <a:ext cx="4297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오프닝 프리셋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587751"/>
            <a:ext cx="475488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거실창·방창·베란다 전창·욕실창·현관문 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폭×높이×SILL을 프리셋으로 관리, 클릭 배치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타입별 반복 창호를 초 단위로 입력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69080"/>
            <a:ext cx="553212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4360" y="4069080"/>
            <a:ext cx="43180" cy="2011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95528" y="4251960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288536"/>
            <a:ext cx="4617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 TEXT 자동 인식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782312"/>
            <a:ext cx="507492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9731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평면의 창호 라벨(예: 18×11.8) 클릭 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9731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폭·높이를 자동 추출해 오프닝으로 등록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9731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기본 SILL 자동 적용 — 수기 입력 최소화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069080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4069080"/>
            <a:ext cx="43180" cy="20116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601968" y="4251960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288536"/>
            <a:ext cx="4297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창호 자동 배치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782312"/>
            <a:ext cx="4754880" cy="4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9731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인식된 창호를 입면 위 정위치에 자동 반영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9731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정밀 모드로 위치·규격 미세 조정 가능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021A107-2158-2136-8B46-41FAC2B14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핵심 기능 ③  단열재 자동 나누기 (Core Engine)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 도구의 심장 — 보드 분할·번호·품질 검증을 규칙 기반으로 자동화했습니다.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53212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9552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093975"/>
            <a:ext cx="4617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보드 자동 분할 · 번호 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587751"/>
            <a:ext cx="507492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보드 규격(예: 1000×2600) 기준 자동 분할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오프닝을 피해 절단 보드 산출, 보드별 번호 표기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조인트 엇갈림(running bond) 규칙 내장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0196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093975"/>
            <a:ext cx="4297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구간별 단열 스펙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587751"/>
            <a:ext cx="475488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세그먼트마다 직접외기/간접외기 구분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1P·2P 두께 개별 지정, 제외 구간 설정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노출 구분 밴드를 입면 위에 시각화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69080"/>
            <a:ext cx="553212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4360" y="4069080"/>
            <a:ext cx="43180" cy="20116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95528" y="4251960"/>
            <a:ext cx="384048" cy="38404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288536"/>
            <a:ext cx="4617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결로위험 조인트 자동 검출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782312"/>
            <a:ext cx="507492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E11D4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1P/2P 조인트 간 이격 250mm 미만 구간을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E11D4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자동 검출해 빨간색 경고로 표시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E11D4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품질 기준을 사람 눈이 아닌 규칙으로 보증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069080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4069080"/>
            <a:ext cx="43180" cy="20116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601968" y="4251960"/>
            <a:ext cx="384048" cy="38404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288536"/>
            <a:ext cx="4297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절단 최적화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782312"/>
            <a:ext cx="4754880" cy="4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E11D4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절단 보드를 정척 판에 패킹해 손율 최소화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E11D4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정척/절단 수량이 물량 산출과 자동 연동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3C785C-447C-F9A3-EF01-3B49A8E27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핵심 기능 ④  물량 산출 · 산출물 내보내기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도면과 물량이 같은 데이터에서 나오므로, 전기(轉記) 오류가 원천적으로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53212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9552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093975"/>
            <a:ext cx="4617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동 · 타입 · 세대수 매트릭스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587751"/>
            <a:ext cx="507492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타입별 나누기도 × 동·세대수 매트릭스로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전체 소요 물량을 자동 집계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규격별 정척/절단 수량·면적 산출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0196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093975"/>
            <a:ext cx="4297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물량 산출서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587751"/>
            <a:ext cx="475488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입면별 [물량] 요약을 화면에 상시 표시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CSV/XLSX 산출서로 즉시 다운로드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정산·발주 업무에 바로 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14800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67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산출물 포맷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26280"/>
            <a:ext cx="2075688" cy="1234440"/>
          </a:xfrm>
          <a:prstGeom prst="roundRect">
            <a:avLst>
              <a:gd name="adj" fmla="val 9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4773168"/>
            <a:ext cx="2075688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 통합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93792"/>
            <a:ext cx="207568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 입면 1파일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52928" y="4526280"/>
            <a:ext cx="2075688" cy="1234440"/>
          </a:xfrm>
          <a:prstGeom prst="roundRect">
            <a:avLst>
              <a:gd name="adj" fmla="val 9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52928" y="4773168"/>
            <a:ext cx="2075688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DXF 분할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5193792"/>
            <a:ext cx="207568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입면별 개별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11496" y="4526280"/>
            <a:ext cx="2075688" cy="1234440"/>
          </a:xfrm>
          <a:prstGeom prst="roundRect">
            <a:avLst>
              <a:gd name="adj" fmla="val 9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11496" y="4773168"/>
            <a:ext cx="2075688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SVG 통합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6" y="5193792"/>
            <a:ext cx="207568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벡터 도면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0064" y="4526280"/>
            <a:ext cx="2075688" cy="1234440"/>
          </a:xfrm>
          <a:prstGeom prst="roundRect">
            <a:avLst>
              <a:gd name="adj" fmla="val 9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70064" y="4773168"/>
            <a:ext cx="2075688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CSV / XLSX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0064" y="5193792"/>
            <a:ext cx="207568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물량 산출서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28632" y="4526280"/>
            <a:ext cx="2075688" cy="1234440"/>
          </a:xfrm>
          <a:prstGeom prst="roundRect">
            <a:avLst>
              <a:gd name="adj" fmla="val 9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28632" y="4773168"/>
            <a:ext cx="2075688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Output ZIP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8632" y="5193792"/>
            <a:ext cx="207568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일괄 패키지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19EB637-0039-CEA1-9E66-2AABE12B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05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프로젝트 저장 · 리비전(REV)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개인 PC 파일이 아니라 클라우드 DB에 저장됩니다 — 누가 열어도 같은 최신 데이터입니다.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53212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9552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093975"/>
            <a:ext cx="4617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프로젝트 단위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587751"/>
            <a:ext cx="507492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현장/프로젝트별로 작업 전체(도면·트레이싱·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오프닝·스펙·매트릭스)를 클라우드에 저장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원본 DXF도 함께 보관 — 불러오면 즉시 복원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43180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601968" y="2057399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093975"/>
            <a:ext cx="4297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리비전(REV) 이력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587751"/>
            <a:ext cx="475488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저장할 때마다 새 REV 생성 — 설계 변경 이력 추적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REV 목록에서 과거 버전 즉시 불러오기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변경 전/후 비교와 롤백이 자유로움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69080"/>
            <a:ext cx="553212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4360" y="4069080"/>
            <a:ext cx="43180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95528" y="42519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288536"/>
            <a:ext cx="461772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사내 계정 통합 로그인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782312"/>
            <a:ext cx="5074920" cy="69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Smart Works(DCR)와 동일한 이메일·비밀번호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별도 계정 발급 없이 전 직원 즉시 사용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 화면 로그인 보호 — 외부 접근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069080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4069080"/>
            <a:ext cx="43180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601968" y="42519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288536"/>
            <a:ext cx="4297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독립 운영 인프라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782312"/>
            <a:ext cx="4754880" cy="4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전용 DB·Storage로 타 시스템 영향 없음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5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GitHub 머지 → 자동 배포로 개선사항 즉시 반영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D8B5CF38-436D-CEAF-6320-1F7C55E2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06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기대 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 작성 시간보다 더 큰 가치는 물량 정확도와 품질 기준의 표준화입니다.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8680" y="2194560"/>
            <a:ext cx="457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30175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9C2D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작성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31089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 시간 → 수십 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8"/>
            <a:ext cx="3108960" cy="37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타입당 나누기도 작성 기준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(트레이싱 후 자동 생성)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399" y="192024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17719" y="2194560"/>
            <a:ext cx="4572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17719" y="2331720"/>
            <a:ext cx="30175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9C2D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설계 변경 대응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697480"/>
            <a:ext cx="31089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재작도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3310128"/>
            <a:ext cx="3108960" cy="37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층고·창호·스펙 수정 시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도면·물량 즉시 재계산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38" y="192024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66758" y="2194560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66758" y="2331720"/>
            <a:ext cx="30175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A9C2D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물량 정확도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2697480"/>
            <a:ext cx="31089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전기 오류 원천 차단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8" y="3310128"/>
            <a:ext cx="3108960" cy="37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도면과 산출서가 단일 데이터 —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D8E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누락·이중 입력 없음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343400"/>
            <a:ext cx="1101852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41248" y="4535424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7280" y="4507824"/>
            <a:ext cx="20116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품질 표준화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15518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결로위험 간격·조인트 규칙을 도구가 강제 — 작성자와 무관하게 동일 품질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965192"/>
            <a:ext cx="1101852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41248" y="5157216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" y="5129616"/>
            <a:ext cx="20116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지식 자산화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37310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타입별 나누기도가 REV와 함께 축적 — 차기 현장에서 재활용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586984"/>
            <a:ext cx="11018520" cy="51206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41248" y="5779008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97280" y="5751408"/>
            <a:ext cx="20116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업무 접근성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759102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CAD 미보유·비숙련 인원도 웹에서 도면 확인·물량 조회 가능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D2B99738-C6F7-2B68-2129-3FFA20608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06  </a:t>
            </a:r>
            <a:r>
              <a:rPr sz="12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6070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향후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07008"/>
            <a:ext cx="502920" cy="40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0432" y="1207008"/>
            <a:ext cx="164592" cy="406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BD5E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· 개발 완료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4748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3566160" cy="11887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2103120"/>
            <a:ext cx="3108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STEP 1  </a:t>
            </a:r>
            <a:r>
              <a:rPr sz="15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확산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606040"/>
            <a:ext cx="315468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0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파일럿 현장 적용 → 표준 프로세스화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0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타입별 나누기도 표준 라이브러리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399" y="182880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43399" y="1828800"/>
            <a:ext cx="3566160" cy="11887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9431" y="2103120"/>
            <a:ext cx="3108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STEP 2  </a:t>
            </a:r>
            <a:r>
              <a:rPr sz="15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사용성 고도화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606040"/>
            <a:ext cx="315468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F9731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0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현장 피드백 즉시 반영 체계 운영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F97316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0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입면 가독성·측정/편집 도구 지속 개선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38" y="182880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92438" y="1828800"/>
            <a:ext cx="3566160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0" y="2103120"/>
            <a:ext cx="3108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STEP 3  </a:t>
            </a:r>
            <a:r>
              <a:rPr sz="1500" b="1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기능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0" y="2606040"/>
            <a:ext cx="3154680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0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절단 최적화 리포트 고도화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 </a:t>
            </a:r>
            <a:r>
              <a:rPr sz="1100" b="0">
                <a:solidFill>
                  <a:srgbClr val="1E293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 부위(천장·바닥) 나누기도 확장 검토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77639"/>
            <a:ext cx="11018520" cy="20574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360" y="3977639"/>
            <a:ext cx="1101852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10241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반복되는 도면 수작업을 데이터로,  물량 산출을 클릭 한 번으로.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20640"/>
            <a:ext cx="10241280" cy="510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C7D6E8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세대 단열재 나누기도 플랫폼은 오늘부터 전 현장에서 바로 사용할 수 있습니다.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0EA5E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insulation-partition-generator.jogh.workers.dev  ·  Smart Works 계정으로 로그인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0329E67-0E38-3D67-ABEB-6F378384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87915" y="187738"/>
            <a:ext cx="2982218" cy="8503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1528</Words>
  <Application>Microsoft Office PowerPoint</Application>
  <PresentationFormat>와이드스크린</PresentationFormat>
  <Paragraphs>275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KoPubWorld돋움체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김진욱1 대리</cp:lastModifiedBy>
  <cp:revision>9</cp:revision>
  <dcterms:created xsi:type="dcterms:W3CDTF">2013-01-27T09:14:16Z</dcterms:created>
  <dcterms:modified xsi:type="dcterms:W3CDTF">2026-07-07T05:01:14Z</dcterms:modified>
  <cp:category/>
</cp:coreProperties>
</file>